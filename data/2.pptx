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9" r:id="rId7"/>
    <p:sldId id="260" r:id="rId8"/>
    <p:sldId id="261" r:id="rId9"/>
    <p:sldId id="264" r:id="rId10"/>
    <p:sldId id="262" r:id="rId11"/>
    <p:sldId id="266" r:id="rId12"/>
    <p:sldId id="267" r:id="rId13"/>
    <p:sldId id="268" r:id="rId14"/>
    <p:sldId id="270" r:id="rId15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34788D7-74E2-477C-BC3D-448D427ADE2B}" type="datetimeFigureOut">
              <a:rPr lang="uk-UA" smtClean="0"/>
              <a:t>26.02.2026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DE884AE2-E634-4E94-A441-7A8FCFF2838D}" type="slidenum">
              <a:rPr lang="uk-UA" smtClean="0"/>
              <a:t>‹#›</a:t>
            </a:fld>
            <a:endParaRPr lang="uk-U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b="1" dirty="0" smtClean="0">
                <a:solidFill>
                  <a:schemeClr val="accent2">
                    <a:lumMod val="50000"/>
                  </a:schemeClr>
                </a:solidFill>
              </a:rPr>
              <a:t>Організація освітнього процесу вчителя фізичної культури НУШ</a:t>
            </a:r>
            <a:endParaRPr lang="uk-UA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endParaRPr lang="uk-UA" dirty="0" smtClean="0"/>
          </a:p>
          <a:p>
            <a:pPr algn="l"/>
            <a:endParaRPr lang="uk-UA" dirty="0"/>
          </a:p>
          <a:p>
            <a:pPr algn="l"/>
            <a:r>
              <a:rPr lang="uk-UA" dirty="0" smtClean="0">
                <a:solidFill>
                  <a:schemeClr val="bg2">
                    <a:lumMod val="10000"/>
                  </a:schemeClr>
                </a:solidFill>
              </a:rPr>
              <a:t>Вчитель фізичної культури</a:t>
            </a:r>
          </a:p>
          <a:p>
            <a:pPr algn="l"/>
            <a:r>
              <a:rPr lang="uk-UA" dirty="0" err="1" smtClean="0">
                <a:solidFill>
                  <a:schemeClr val="bg2">
                    <a:lumMod val="10000"/>
                  </a:schemeClr>
                </a:solidFill>
              </a:rPr>
              <a:t>Снячівського</a:t>
            </a:r>
            <a:r>
              <a:rPr lang="uk-UA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uk-UA" dirty="0" smtClean="0">
                <a:solidFill>
                  <a:schemeClr val="bg2">
                    <a:lumMod val="10000"/>
                  </a:schemeClr>
                </a:solidFill>
              </a:rPr>
              <a:t>ЗЗСО І-ІІІ ст.</a:t>
            </a:r>
          </a:p>
          <a:p>
            <a:pPr algn="l"/>
            <a:r>
              <a:rPr lang="uk-UA" dirty="0" err="1" smtClean="0">
                <a:solidFill>
                  <a:schemeClr val="bg2">
                    <a:lumMod val="10000"/>
                  </a:schemeClr>
                </a:solidFill>
              </a:rPr>
              <a:t>Цуркан</a:t>
            </a:r>
            <a:r>
              <a:rPr lang="uk-UA" dirty="0" smtClean="0">
                <a:solidFill>
                  <a:schemeClr val="bg2">
                    <a:lumMod val="10000"/>
                  </a:schemeClr>
                </a:solidFill>
              </a:rPr>
              <a:t> С.В </a:t>
            </a:r>
            <a:endParaRPr lang="uk-UA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09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1" i="1" dirty="0" smtClean="0"/>
              <a:t>Освітня галузь</a:t>
            </a:r>
            <a:br>
              <a:rPr lang="uk-UA" b="1" i="1" dirty="0" smtClean="0"/>
            </a:br>
            <a:r>
              <a:rPr lang="uk-UA" b="1" i="1" dirty="0" smtClean="0"/>
              <a:t>Фізична культура</a:t>
            </a:r>
            <a:endParaRPr lang="uk-UA" b="1" i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uk-UA" dirty="0" smtClean="0"/>
              <a:t>5-6 класи </a:t>
            </a:r>
          </a:p>
          <a:p>
            <a:r>
              <a:rPr lang="uk-UA" dirty="0" smtClean="0"/>
              <a:t>Адаптаційний цикл </a:t>
            </a:r>
          </a:p>
          <a:p>
            <a:r>
              <a:rPr lang="uk-UA" dirty="0" smtClean="0"/>
              <a:t>(12-16 модулів)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uk-UA" dirty="0" smtClean="0"/>
              <a:t>7-9 класи</a:t>
            </a:r>
          </a:p>
          <a:p>
            <a:r>
              <a:rPr lang="uk-UA" dirty="0" smtClean="0"/>
              <a:t>Цикл базового предметного навчання</a:t>
            </a:r>
          </a:p>
          <a:p>
            <a:r>
              <a:rPr lang="uk-UA" dirty="0" smtClean="0"/>
              <a:t>(8-12 модулів)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339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00" y="653752"/>
            <a:ext cx="4672013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9015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452438"/>
            <a:ext cx="4672013" cy="595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16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755576" y="1124744"/>
            <a:ext cx="7408333" cy="5112568"/>
          </a:xfrm>
        </p:spPr>
        <p:txBody>
          <a:bodyPr>
            <a:normAutofit/>
          </a:bodyPr>
          <a:lstStyle/>
          <a:p>
            <a:endParaRPr lang="uk-UA" b="1" dirty="0" smtClean="0"/>
          </a:p>
          <a:p>
            <a:r>
              <a:rPr lang="uk-UA" b="1" dirty="0" smtClean="0">
                <a:solidFill>
                  <a:srgbClr val="FF0000"/>
                </a:solidFill>
              </a:rPr>
              <a:t>Потреби </a:t>
            </a:r>
            <a:r>
              <a:rPr lang="uk-UA" b="1" dirty="0">
                <a:solidFill>
                  <a:srgbClr val="FF0000"/>
                </a:solidFill>
              </a:rPr>
              <a:t>та інтереси </a:t>
            </a:r>
            <a:r>
              <a:rPr lang="uk-UA" b="1" dirty="0" smtClean="0">
                <a:solidFill>
                  <a:srgbClr val="FF0000"/>
                </a:solidFill>
              </a:rPr>
              <a:t>учнів</a:t>
            </a:r>
          </a:p>
          <a:p>
            <a:r>
              <a:rPr lang="uk-UA" b="1" dirty="0">
                <a:solidFill>
                  <a:srgbClr val="FF0000"/>
                </a:solidFill>
              </a:rPr>
              <a:t>Рівень матеріально-технічної бази школи.</a:t>
            </a:r>
          </a:p>
          <a:p>
            <a:r>
              <a:rPr lang="uk-UA" b="1" dirty="0">
                <a:solidFill>
                  <a:srgbClr val="FF0000"/>
                </a:solidFill>
              </a:rPr>
              <a:t>Вікові та психофізіологічні особливості дітей.</a:t>
            </a:r>
          </a:p>
          <a:p>
            <a:r>
              <a:rPr lang="uk-UA" b="1" dirty="0">
                <a:solidFill>
                  <a:srgbClr val="FF0000"/>
                </a:solidFill>
              </a:rPr>
              <a:t>Кліматичні </a:t>
            </a:r>
            <a:r>
              <a:rPr lang="uk-UA" b="1" dirty="0" smtClean="0">
                <a:solidFill>
                  <a:srgbClr val="FF0000"/>
                </a:solidFill>
              </a:rPr>
              <a:t>умови.</a:t>
            </a:r>
          </a:p>
          <a:p>
            <a:r>
              <a:rPr lang="ru-RU" b="1" dirty="0" err="1" smtClean="0">
                <a:solidFill>
                  <a:srgbClr val="FF0000"/>
                </a:solidFill>
              </a:rPr>
              <a:t>Учні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5-6 </a:t>
            </a:r>
            <a:r>
              <a:rPr lang="ru-RU" b="1" dirty="0" err="1">
                <a:solidFill>
                  <a:srgbClr val="FF0000"/>
                </a:solidFill>
              </a:rPr>
              <a:t>класів</a:t>
            </a:r>
            <a:r>
              <a:rPr lang="ru-RU" b="1" dirty="0">
                <a:solidFill>
                  <a:srgbClr val="FF0000"/>
                </a:solidFill>
              </a:rPr>
              <a:t> (</a:t>
            </a:r>
            <a:r>
              <a:rPr lang="ru-RU" b="1" dirty="0" err="1">
                <a:solidFill>
                  <a:srgbClr val="FF0000"/>
                </a:solidFill>
              </a:rPr>
              <a:t>адаптаційного</a:t>
            </a:r>
            <a:r>
              <a:rPr lang="ru-RU" b="1" dirty="0">
                <a:solidFill>
                  <a:srgbClr val="FF0000"/>
                </a:solidFill>
              </a:rPr>
              <a:t> циклу) </a:t>
            </a:r>
            <a:r>
              <a:rPr lang="ru-RU" b="1" dirty="0" err="1">
                <a:solidFill>
                  <a:srgbClr val="FF0000"/>
                </a:solidFill>
              </a:rPr>
              <a:t>упродовж</a:t>
            </a:r>
            <a:r>
              <a:rPr lang="ru-RU" b="1" dirty="0">
                <a:solidFill>
                  <a:srgbClr val="FF0000"/>
                </a:solidFill>
              </a:rPr>
              <a:t> року </a:t>
            </a:r>
            <a:r>
              <a:rPr lang="ru-RU" b="1" dirty="0" err="1">
                <a:solidFill>
                  <a:srgbClr val="FF0000"/>
                </a:solidFill>
              </a:rPr>
              <a:t>мають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опанувати</a:t>
            </a:r>
            <a:r>
              <a:rPr lang="ru-RU" b="1" dirty="0">
                <a:solidFill>
                  <a:srgbClr val="FF0000"/>
                </a:solidFill>
              </a:rPr>
              <a:t> 12-16 </a:t>
            </a:r>
            <a:r>
              <a:rPr lang="ru-RU" b="1" dirty="0" err="1">
                <a:solidFill>
                  <a:srgbClr val="FF0000"/>
                </a:solidFill>
              </a:rPr>
              <a:t>варіативних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модулів</a:t>
            </a:r>
            <a:r>
              <a:rPr lang="ru-RU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ru-RU" b="1" dirty="0" err="1" smtClean="0">
                <a:solidFill>
                  <a:srgbClr val="FF0000"/>
                </a:solidFill>
              </a:rPr>
              <a:t>Учні</a:t>
            </a:r>
            <a:r>
              <a:rPr lang="ru-RU" b="1" dirty="0" smtClean="0">
                <a:solidFill>
                  <a:srgbClr val="FF0000"/>
                </a:solidFill>
              </a:rPr>
              <a:t> 7-9 </a:t>
            </a:r>
            <a:r>
              <a:rPr lang="ru-RU" b="1" dirty="0" err="1">
                <a:solidFill>
                  <a:srgbClr val="FF0000"/>
                </a:solidFill>
              </a:rPr>
              <a:t>класів</a:t>
            </a:r>
            <a:r>
              <a:rPr lang="ru-RU" b="1" dirty="0">
                <a:solidFill>
                  <a:srgbClr val="FF0000"/>
                </a:solidFill>
              </a:rPr>
              <a:t> (циклу предметного </a:t>
            </a:r>
            <a:r>
              <a:rPr lang="ru-RU" b="1" dirty="0" err="1">
                <a:solidFill>
                  <a:srgbClr val="FF0000"/>
                </a:solidFill>
              </a:rPr>
              <a:t>навчання</a:t>
            </a:r>
            <a:r>
              <a:rPr lang="ru-RU" b="1" dirty="0">
                <a:solidFill>
                  <a:srgbClr val="FF0000"/>
                </a:solidFill>
              </a:rPr>
              <a:t>) </a:t>
            </a:r>
            <a:r>
              <a:rPr lang="ru-RU" b="1" dirty="0" err="1">
                <a:solidFill>
                  <a:srgbClr val="FF0000"/>
                </a:solidFill>
              </a:rPr>
              <a:t>опановують</a:t>
            </a:r>
            <a:r>
              <a:rPr lang="ru-RU" b="1" dirty="0">
                <a:solidFill>
                  <a:srgbClr val="FF0000"/>
                </a:solidFill>
              </a:rPr>
              <a:t> 8-12 </a:t>
            </a:r>
            <a:r>
              <a:rPr lang="ru-RU" b="1" dirty="0" err="1">
                <a:solidFill>
                  <a:srgbClr val="FF0000"/>
                </a:solidFill>
              </a:rPr>
              <a:t>варіативних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модулів</a:t>
            </a:r>
            <a:r>
              <a:rPr lang="ru-RU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uk-UA" b="1" dirty="0" smtClean="0">
                <a:solidFill>
                  <a:srgbClr val="FF0000"/>
                </a:solidFill>
              </a:rPr>
              <a:t>Повна зміна </a:t>
            </a:r>
            <a:r>
              <a:rPr lang="uk-UA" b="1" dirty="0">
                <a:solidFill>
                  <a:srgbClr val="FF0000"/>
                </a:solidFill>
              </a:rPr>
              <a:t>варіативних модулів відбувається </a:t>
            </a:r>
            <a:r>
              <a:rPr lang="uk-UA" b="1" dirty="0" smtClean="0">
                <a:solidFill>
                  <a:srgbClr val="FF0000"/>
                </a:solidFill>
              </a:rPr>
              <a:t>кожної чверті/триместрі</a:t>
            </a:r>
            <a:r>
              <a:rPr lang="uk-UA" b="1" dirty="0">
                <a:solidFill>
                  <a:srgbClr val="FF0000"/>
                </a:solidFill>
              </a:rPr>
              <a:t>.</a:t>
            </a:r>
            <a:endParaRPr lang="ru-RU" b="1" dirty="0" smtClean="0">
              <a:solidFill>
                <a:srgbClr val="FF0000"/>
              </a:solidFill>
            </a:endParaRPr>
          </a:p>
          <a:p>
            <a:endParaRPr lang="uk-UA" dirty="0"/>
          </a:p>
          <a:p>
            <a:endParaRPr lang="uk-UA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/>
          <a:lstStyle/>
          <a:p>
            <a:r>
              <a:rPr lang="uk-UA" dirty="0" smtClean="0"/>
              <a:t>Вибір модулів: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2097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971600" y="1628800"/>
            <a:ext cx="7408333" cy="3450696"/>
          </a:xfrm>
        </p:spPr>
        <p:txBody>
          <a:bodyPr>
            <a:normAutofit lnSpcReduction="10000"/>
          </a:bodyPr>
          <a:lstStyle/>
          <a:p>
            <a:r>
              <a:rPr lang="uk-UA" b="1" dirty="0"/>
              <a:t>Наприкінці кожної чверті в освітньому закладі проводяться фізкультурно-оздоровчі масові заходи (ігри, змагання, </a:t>
            </a:r>
            <a:r>
              <a:rPr lang="uk-UA" b="1" dirty="0" err="1"/>
              <a:t>челенджі</a:t>
            </a:r>
            <a:r>
              <a:rPr lang="uk-UA" b="1" dirty="0"/>
              <a:t>, </a:t>
            </a:r>
            <a:r>
              <a:rPr lang="uk-UA" b="1" dirty="0" err="1"/>
              <a:t>квести</a:t>
            </a:r>
            <a:r>
              <a:rPr lang="uk-UA" b="1" dirty="0"/>
              <a:t>, </a:t>
            </a:r>
            <a:r>
              <a:rPr lang="uk-UA" b="1" dirty="0" err="1"/>
              <a:t>флешмоби</a:t>
            </a:r>
            <a:r>
              <a:rPr lang="uk-UA" b="1" dirty="0"/>
              <a:t> тощо), які охоплюють усіх </a:t>
            </a:r>
            <a:r>
              <a:rPr lang="uk-UA" b="1" dirty="0" smtClean="0"/>
              <a:t>учнів </a:t>
            </a:r>
            <a:r>
              <a:rPr lang="uk-UA" b="1" dirty="0"/>
              <a:t>і спрямовані на закріплення і вдосконалення вивчених варіативних модулів. </a:t>
            </a:r>
            <a:endParaRPr lang="uk-UA" b="1" dirty="0" smtClean="0"/>
          </a:p>
          <a:p>
            <a:r>
              <a:rPr lang="uk-UA" b="1" dirty="0" smtClean="0"/>
              <a:t>Доцільно </a:t>
            </a:r>
            <a:r>
              <a:rPr lang="uk-UA" b="1" dirty="0"/>
              <a:t>до проведення масових фізкультурно- оздоровчих заходів долучати батьків у якості учасників і глядачів. 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6861472"/>
            <a:ext cx="8229600" cy="1252728"/>
          </a:xfrm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81825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1196752"/>
            <a:ext cx="7772400" cy="4493832"/>
          </a:xfrm>
        </p:spPr>
        <p:txBody>
          <a:bodyPr>
            <a:noAutofit/>
          </a:bodyPr>
          <a:lstStyle/>
          <a:p>
            <a:pPr algn="l"/>
            <a:r>
              <a:rPr lang="uk-UA" sz="2800" b="1" i="1" dirty="0" smtClean="0">
                <a:solidFill>
                  <a:srgbClr val="FF0000"/>
                </a:solidFill>
              </a:rPr>
              <a:t>Державні документи:</a:t>
            </a:r>
            <a:r>
              <a:rPr lang="uk-UA" sz="2800" b="1" i="1" dirty="0" smtClean="0">
                <a:solidFill>
                  <a:srgbClr val="FFFF00"/>
                </a:solidFill>
              </a:rPr>
              <a:t/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rgbClr val="FFFF00"/>
                </a:solidFill>
              </a:rPr>
              <a:t>- Державний стандарт базової середньої освіти</a:t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rgbClr val="FFFF00"/>
                </a:solidFill>
              </a:rPr>
              <a:t>- Типова освітня програма</a:t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rgbClr val="FFFF00"/>
                </a:solidFill>
              </a:rPr>
              <a:t>- Модельна навчальна програма</a:t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rgbClr val="FFFF00"/>
                </a:solidFill>
              </a:rPr>
              <a:t/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rgbClr val="FF0000"/>
                </a:solidFill>
              </a:rPr>
              <a:t>Документи вчителя:</a:t>
            </a:r>
            <a:r>
              <a:rPr lang="uk-UA" sz="2800" b="1" i="1" dirty="0" smtClean="0">
                <a:solidFill>
                  <a:srgbClr val="FFFF00"/>
                </a:solidFill>
              </a:rPr>
              <a:t/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b="1" i="1" dirty="0" smtClean="0">
                <a:solidFill>
                  <a:schemeClr val="bg2">
                    <a:lumMod val="25000"/>
                  </a:schemeClr>
                </a:solidFill>
              </a:rPr>
              <a:t>-Навчальна програма</a:t>
            </a:r>
            <a:br>
              <a:rPr lang="uk-UA" sz="2800" b="1" i="1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uk-UA" sz="2800" b="1" i="1" dirty="0" smtClean="0">
                <a:solidFill>
                  <a:schemeClr val="bg2">
                    <a:lumMod val="25000"/>
                  </a:schemeClr>
                </a:solidFill>
              </a:rPr>
              <a:t>- календарно-тематичне планування</a:t>
            </a:r>
            <a:br>
              <a:rPr lang="uk-UA" sz="2800" b="1" i="1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uk-UA" sz="2800" b="1" i="1" dirty="0" smtClean="0">
                <a:solidFill>
                  <a:schemeClr val="bg2">
                    <a:lumMod val="25000"/>
                  </a:schemeClr>
                </a:solidFill>
              </a:rPr>
              <a:t>- поурочні плани</a:t>
            </a:r>
            <a:r>
              <a:rPr lang="uk-UA" sz="2800" b="1" i="1" dirty="0" smtClean="0">
                <a:solidFill>
                  <a:srgbClr val="FFFF00"/>
                </a:solidFill>
              </a:rPr>
              <a:t/>
            </a:r>
            <a:br>
              <a:rPr lang="uk-UA" sz="2800" b="1" i="1" dirty="0" smtClean="0">
                <a:solidFill>
                  <a:srgbClr val="FFFF00"/>
                </a:solidFill>
              </a:rPr>
            </a:br>
            <a:r>
              <a:rPr lang="uk-UA" sz="2800" dirty="0"/>
              <a:t/>
            </a:r>
            <a:br>
              <a:rPr lang="uk-UA" sz="2800" dirty="0"/>
            </a:br>
            <a:r>
              <a:rPr lang="uk-UA" sz="2800" dirty="0" smtClean="0"/>
              <a:t/>
            </a:r>
            <a:br>
              <a:rPr lang="uk-UA" sz="2800" dirty="0" smtClean="0"/>
            </a:br>
            <a:endParaRPr lang="uk-UA" sz="28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75656" y="188640"/>
            <a:ext cx="6417734" cy="939801"/>
          </a:xfrm>
        </p:spPr>
        <p:txBody>
          <a:bodyPr>
            <a:normAutofit/>
          </a:bodyPr>
          <a:lstStyle/>
          <a:p>
            <a:r>
              <a:rPr lang="uk-UA" sz="4400" b="1" dirty="0" smtClean="0">
                <a:solidFill>
                  <a:srgbClr val="7030A0"/>
                </a:solidFill>
              </a:rPr>
              <a:t>Документи планування:</a:t>
            </a:r>
            <a:endParaRPr lang="uk-UA" sz="4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22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55576" y="1305342"/>
            <a:ext cx="7560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Міністерство освіти і науки України </a:t>
            </a:r>
          </a:p>
          <a:p>
            <a:pPr marL="45720" indent="0" algn="ctr">
              <a:buNone/>
            </a:pPr>
            <a:endParaRPr lang="uk-UA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Модельна навчальна програма </a:t>
            </a:r>
          </a:p>
          <a:p>
            <a:pPr marL="45720" indent="0" algn="ctr">
              <a:buNone/>
            </a:pPr>
            <a:endParaRPr lang="uk-UA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«Фізична культура. 5-9 класи» для закладів загальної середньої освіти </a:t>
            </a:r>
          </a:p>
          <a:p>
            <a:pPr marL="45720" indent="0" algn="ctr">
              <a:buNone/>
            </a:pPr>
            <a:endParaRPr lang="uk-UA" sz="2400" b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(автори: </a:t>
            </a:r>
            <a:r>
              <a:rPr lang="uk-UA" sz="2400" b="1" dirty="0" err="1" smtClean="0">
                <a:solidFill>
                  <a:schemeClr val="accent5">
                    <a:lumMod val="50000"/>
                  </a:schemeClr>
                </a:solidFill>
              </a:rPr>
              <a:t>Баженков</a:t>
            </a: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 Є. В., Бідний М. В., </a:t>
            </a:r>
            <a:r>
              <a:rPr lang="uk-UA" sz="2400" b="1" dirty="0" err="1" smtClean="0">
                <a:solidFill>
                  <a:schemeClr val="accent5">
                    <a:lumMod val="50000"/>
                  </a:schemeClr>
                </a:solidFill>
              </a:rPr>
              <a:t>Ребрина</a:t>
            </a: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 А. А., </a:t>
            </a:r>
            <a:r>
              <a:rPr lang="uk-UA" sz="2400" b="1" dirty="0" err="1" smtClean="0">
                <a:solidFill>
                  <a:schemeClr val="accent5">
                    <a:lumMod val="50000"/>
                  </a:schemeClr>
                </a:solidFill>
              </a:rPr>
              <a:t>Данільченко</a:t>
            </a: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 В. О., </a:t>
            </a:r>
            <a:r>
              <a:rPr lang="uk-UA" sz="2400" b="1" dirty="0" err="1" smtClean="0">
                <a:solidFill>
                  <a:schemeClr val="accent5">
                    <a:lumMod val="50000"/>
                  </a:schemeClr>
                </a:solidFill>
              </a:rPr>
              <a:t>Коломоєць</a:t>
            </a: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 Г. А., Дутчак М. В.)</a:t>
            </a: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 </a:t>
            </a: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«Рекомендовано Міністерством освіти і науки України» </a:t>
            </a:r>
          </a:p>
          <a:p>
            <a:pPr marL="45720" indent="0" algn="ctr">
              <a:buNone/>
            </a:pPr>
            <a:r>
              <a:rPr lang="uk-UA" sz="2400" b="1" dirty="0" smtClean="0">
                <a:solidFill>
                  <a:schemeClr val="accent5">
                    <a:lumMod val="50000"/>
                  </a:schemeClr>
                </a:solidFill>
              </a:rPr>
              <a:t>наказ Міністерства освіти і науки України від 22.08.2024 року № 1185 </a:t>
            </a:r>
            <a:endParaRPr lang="uk-UA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08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27584" y="908720"/>
            <a:ext cx="799288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b="1" dirty="0" smtClean="0"/>
              <a:t>Модельна навчальна програма побудована за модульною системою. </a:t>
            </a:r>
          </a:p>
          <a:p>
            <a:r>
              <a:rPr lang="uk-UA" sz="2000" b="1" dirty="0" smtClean="0"/>
              <a:t>Вона містить інваріантну (обов’язкову) та варіативну складову. </a:t>
            </a:r>
          </a:p>
          <a:p>
            <a:endParaRPr lang="uk-UA" b="1" dirty="0"/>
          </a:p>
          <a:p>
            <a:endParaRPr lang="uk-UA" b="1" dirty="0" smtClean="0"/>
          </a:p>
          <a:p>
            <a:r>
              <a:rPr lang="uk-UA" sz="2000" dirty="0" smtClean="0"/>
              <a:t>• До інваріантної частини належать модуль: теоретико-методичні знання та загальна фізична підготовка, тобто підвищення функціональних можливостей організму і  забезпечення гармонійного фізичного розвитку, зміст якого реалізовується упродовж кожного уроку. </a:t>
            </a:r>
          </a:p>
          <a:p>
            <a:r>
              <a:rPr lang="uk-UA" sz="2000" dirty="0" smtClean="0"/>
              <a:t>• Кожен вид фізкультурно-спортивної діяльності (вид спорту) має бути представлений у вигляді варіативного модуля. </a:t>
            </a:r>
          </a:p>
          <a:p>
            <a:r>
              <a:rPr lang="uk-UA" sz="2000" dirty="0" smtClean="0"/>
              <a:t>• Програма кожного варіативного модуля має містити методичні вказівки, щодо використання його засобів для забезпечення наскрізного підвищення функціональних можливостей організму.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261065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tretch>
            <a:fillRect/>
          </a:stretch>
        </p:blipFill>
        <p:spPr>
          <a:xfrm rot="5400000">
            <a:off x="1236660" y="-993236"/>
            <a:ext cx="6622504" cy="90364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276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>
                <a:solidFill>
                  <a:srgbClr val="FFFF00"/>
                </a:solidFill>
              </a:rPr>
              <a:t>Оцінювання за групами результатів</a:t>
            </a:r>
            <a:endParaRPr lang="uk-UA" dirty="0">
              <a:solidFill>
                <a:srgbClr val="FFFF0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6656" y="1700808"/>
            <a:ext cx="7855784" cy="1008112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Група результатів 1. </a:t>
            </a:r>
            <a:r>
              <a:rPr lang="uk-UA" b="1" dirty="0" smtClean="0"/>
              <a:t>Формування </a:t>
            </a:r>
            <a:r>
              <a:rPr lang="uk-UA" b="1" dirty="0"/>
              <a:t>психічної та соціально-психологічної сфер засобами фізичного виховання</a:t>
            </a:r>
            <a:endParaRPr lang="uk-UA" dirty="0"/>
          </a:p>
          <a:p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7332" y="2708920"/>
            <a:ext cx="6342940" cy="3417243"/>
          </a:xfrm>
        </p:spPr>
        <p:txBody>
          <a:bodyPr>
            <a:normAutofit lnSpcReduction="10000"/>
          </a:bodyPr>
          <a:lstStyle/>
          <a:p>
            <a:pPr lvl="0"/>
            <a:r>
              <a:rPr lang="uk-UA" dirty="0"/>
              <a:t>Визначає мету систематичної рухової діяльності [ФІО 1.1];</a:t>
            </a:r>
          </a:p>
          <a:p>
            <a:pPr lvl="0"/>
            <a:r>
              <a:rPr lang="uk-UA" dirty="0"/>
              <a:t>Формує вольові якості у процесі виконання фізичних вправ [ФІО 1.2];</a:t>
            </a:r>
          </a:p>
          <a:p>
            <a:pPr lvl="0"/>
            <a:r>
              <a:rPr lang="uk-UA" dirty="0"/>
              <a:t>Розвиває свої когнітивні властивості у процесі фізичного виховання [ФІО 1.3];</a:t>
            </a:r>
          </a:p>
          <a:p>
            <a:pPr lvl="0"/>
            <a:r>
              <a:rPr lang="uk-UA" dirty="0"/>
              <a:t>Виконує різні соціальні ролі під час взаємодії у процесі рухової (спортивно-ігрової) діяльності [ФІО 1.4];</a:t>
            </a:r>
          </a:p>
          <a:p>
            <a:pPr lvl="0"/>
            <a:r>
              <a:rPr lang="uk-UA" dirty="0"/>
              <a:t>Дотримується етичних норм у руховій діяльності [ФІО 1.5]</a:t>
            </a:r>
          </a:p>
          <a:p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7524328" y="7029400"/>
            <a:ext cx="3822192" cy="639762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876256" y="6957392"/>
            <a:ext cx="3822192" cy="2697163"/>
          </a:xfrm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89755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888998"/>
            <a:ext cx="8229600" cy="1252728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76656" y="1844824"/>
            <a:ext cx="7999800" cy="1473052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rgbClr val="FF0000"/>
                </a:solidFill>
              </a:rPr>
              <a:t>Група результатів 2. </a:t>
            </a:r>
            <a:r>
              <a:rPr lang="uk-UA" b="1" dirty="0"/>
              <a:t>Систематичні заняття фізичними вправами, володіння технікою фізичних вправ</a:t>
            </a:r>
            <a:endParaRPr lang="uk-UA" dirty="0"/>
          </a:p>
          <a:p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83568" y="3728789"/>
            <a:ext cx="7711092" cy="3129211"/>
          </a:xfrm>
        </p:spPr>
        <p:txBody>
          <a:bodyPr/>
          <a:lstStyle/>
          <a:p>
            <a:pPr lvl="0"/>
            <a:r>
              <a:rPr lang="uk-UA" dirty="0"/>
              <a:t>Демонструє техніку фізичних вправ [ФІО 2.1];</a:t>
            </a:r>
          </a:p>
          <a:p>
            <a:pPr lvl="0"/>
            <a:r>
              <a:rPr lang="uk-UA" dirty="0"/>
              <a:t>Моделює рухову діяльність [ФІО 2.2];</a:t>
            </a:r>
          </a:p>
          <a:p>
            <a:pPr lvl="0"/>
            <a:r>
              <a:rPr lang="uk-UA" dirty="0"/>
              <a:t>Виконує фізичні вправи під час ігрової та змагальної діяльності [ФІО 2.3]</a:t>
            </a:r>
          </a:p>
          <a:p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7884368" y="6957392"/>
            <a:ext cx="3822192" cy="639762"/>
          </a:xfrm>
        </p:spPr>
        <p:txBody>
          <a:bodyPr/>
          <a:lstStyle/>
          <a:p>
            <a:endParaRPr lang="uk-UA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8604448" y="6858000"/>
            <a:ext cx="3822192" cy="2697163"/>
          </a:xfrm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13675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7821488"/>
            <a:ext cx="8229600" cy="1252728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552" y="908720"/>
            <a:ext cx="8215824" cy="1545060"/>
          </a:xfrm>
        </p:spPr>
        <p:txBody>
          <a:bodyPr>
            <a:normAutofit/>
          </a:bodyPr>
          <a:lstStyle/>
          <a:p>
            <a:pPr algn="l"/>
            <a:r>
              <a:rPr lang="uk-UA" b="1" dirty="0">
                <a:solidFill>
                  <a:srgbClr val="FF0000"/>
                </a:solidFill>
              </a:rPr>
              <a:t>Група результатів 3</a:t>
            </a:r>
            <a:r>
              <a:rPr lang="uk-UA" b="1" dirty="0"/>
              <a:t>. Усвідомлення значення фізичної/рухової активності для підтримування стану здоров’я та задоволення у процесі фізичного виховання</a:t>
            </a:r>
            <a:endParaRPr lang="uk-UA" dirty="0"/>
          </a:p>
          <a:p>
            <a:pPr algn="l"/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7332" y="3068960"/>
            <a:ext cx="7495068" cy="3057203"/>
          </a:xfrm>
        </p:spPr>
        <p:txBody>
          <a:bodyPr>
            <a:normAutofit/>
          </a:bodyPr>
          <a:lstStyle/>
          <a:p>
            <a:pPr lvl="0"/>
            <a:r>
              <a:rPr lang="uk-UA" dirty="0"/>
              <a:t>Пізнає факти, явища та закономірності фізичної культури і спорту [ФІО 3.1];</a:t>
            </a:r>
          </a:p>
          <a:p>
            <a:pPr lvl="0"/>
            <a:r>
              <a:rPr lang="uk-UA" dirty="0"/>
              <a:t>Контролює свій фізичний стан під час рухової діяльності [ФІО 3.2];</a:t>
            </a:r>
          </a:p>
          <a:p>
            <a:pPr lvl="0"/>
            <a:r>
              <a:rPr lang="uk-UA" dirty="0"/>
              <a:t>Дотримується здорового способу життя через фізкультурно-оздоровчу діяльність [ФІО 3.4];</a:t>
            </a:r>
          </a:p>
          <a:p>
            <a:pPr lvl="0"/>
            <a:r>
              <a:rPr lang="uk-UA" dirty="0"/>
              <a:t>Дотримується правил безпечної поведінки під час фізкультурно-оздоровчої діяльності [ФІО 3.5]</a:t>
            </a:r>
          </a:p>
          <a:p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88224" y="7029400"/>
            <a:ext cx="3822192" cy="639762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372200" y="6885432"/>
            <a:ext cx="3822192" cy="2697163"/>
          </a:xfrm>
        </p:spPr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27593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dirty="0" err="1">
                <a:solidFill>
                  <a:srgbClr val="FF0000"/>
                </a:solidFill>
              </a:rPr>
              <a:t>Вступний</a:t>
            </a:r>
            <a:r>
              <a:rPr lang="ru-RU" dirty="0">
                <a:solidFill>
                  <a:srgbClr val="FF0000"/>
                </a:solidFill>
              </a:rPr>
              <a:t> (початок року) </a:t>
            </a:r>
          </a:p>
          <a:p>
            <a:r>
              <a:rPr lang="ru-RU" dirty="0" err="1" smtClean="0">
                <a:solidFill>
                  <a:srgbClr val="FF0000"/>
                </a:solidFill>
              </a:rPr>
              <a:t>Первинний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(на </a:t>
            </a:r>
            <a:r>
              <a:rPr lang="ru-RU" dirty="0" err="1">
                <a:solidFill>
                  <a:srgbClr val="FF0000"/>
                </a:solidFill>
              </a:rPr>
              <a:t>кожний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варіативний</a:t>
            </a:r>
            <a:r>
              <a:rPr lang="ru-RU" dirty="0">
                <a:solidFill>
                  <a:srgbClr val="FF0000"/>
                </a:solidFill>
              </a:rPr>
              <a:t> модуль) </a:t>
            </a:r>
          </a:p>
          <a:p>
            <a:r>
              <a:rPr lang="ru-RU" dirty="0" err="1" smtClean="0">
                <a:solidFill>
                  <a:srgbClr val="FF0000"/>
                </a:solidFill>
              </a:rPr>
              <a:t>Цільовий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(на </a:t>
            </a:r>
            <a:r>
              <a:rPr lang="ru-RU" dirty="0" err="1">
                <a:solidFill>
                  <a:srgbClr val="FF0000"/>
                </a:solidFill>
              </a:rPr>
              <a:t>змагання</a:t>
            </a:r>
            <a:r>
              <a:rPr lang="ru-RU" dirty="0">
                <a:solidFill>
                  <a:srgbClr val="FF0000"/>
                </a:solidFill>
              </a:rPr>
              <a:t>)</a:t>
            </a:r>
            <a:endParaRPr lang="uk-UA" dirty="0">
              <a:solidFill>
                <a:srgbClr val="FF0000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Інструктаж</a:t>
            </a:r>
            <a:r>
              <a:rPr lang="ru-RU" dirty="0"/>
              <a:t> з </a:t>
            </a:r>
            <a:r>
              <a:rPr lang="ru-RU" dirty="0" err="1"/>
              <a:t>охорони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 та </a:t>
            </a:r>
            <a:r>
              <a:rPr lang="ru-RU" dirty="0" err="1"/>
              <a:t>безпеки</a:t>
            </a:r>
            <a:r>
              <a:rPr lang="ru-RU" dirty="0"/>
              <a:t> </a:t>
            </a:r>
            <a:r>
              <a:rPr lang="ru-RU" dirty="0" err="1"/>
              <a:t>життєдіяльності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5386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88</TotalTime>
  <Words>523</Words>
  <Application>Microsoft Office PowerPoint</Application>
  <PresentationFormat>Экран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Волна</vt:lpstr>
      <vt:lpstr>Організація освітнього процесу вчителя фізичної культури НУШ</vt:lpstr>
      <vt:lpstr>Освітня галузь Фізична культура</vt:lpstr>
      <vt:lpstr>Презентация PowerPoint</vt:lpstr>
      <vt:lpstr>Презентация PowerPoint</vt:lpstr>
      <vt:lpstr>Вибір модулів:</vt:lpstr>
      <vt:lpstr>Презентация PowerPoint</vt:lpstr>
      <vt:lpstr>Державні документи: - Державний стандарт базової середньої освіти - Типова освітня програма - Модельна навчальна програма  Документи вчителя: -Навчальна програма - календарно-тематичне планування - поурочні плани   </vt:lpstr>
      <vt:lpstr>Презентация PowerPoint</vt:lpstr>
      <vt:lpstr>Презентация PowerPoint</vt:lpstr>
      <vt:lpstr>Презентация PowerPoint</vt:lpstr>
      <vt:lpstr>Оцінювання за групами результатів</vt:lpstr>
      <vt:lpstr>Презентация PowerPoint</vt:lpstr>
      <vt:lpstr>Презентация PowerPoint</vt:lpstr>
      <vt:lpstr>Інструктаж з охорони праці та безпеки життєдіяльності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Організація освітньогнього процесу вчителя фізичної культури</dc:title>
  <dc:creator>ПК</dc:creator>
  <cp:lastModifiedBy>ПК</cp:lastModifiedBy>
  <cp:revision>18</cp:revision>
  <dcterms:created xsi:type="dcterms:W3CDTF">2025-11-27T15:54:06Z</dcterms:created>
  <dcterms:modified xsi:type="dcterms:W3CDTF">2026-02-26T12:34:06Z</dcterms:modified>
</cp:coreProperties>
</file>